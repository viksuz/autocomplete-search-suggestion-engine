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/>
      <p:bold r:id="rId14"/>
    </p:embeddedFont>
    <p:embeddedFont>
      <p:font typeface="JetBrains Mono"/>
      <p:bold r:id="rId15"/>
    </p:embeddedFont>
    <p:embeddedFont>
      <p:font typeface="Space Grotesk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DITYA PANWAR - 70562500163" userId="5886c166-ffbe-4381-b825-943856b23a8d" providerId="ADAL" clId="{08A75100-CC9C-455E-B032-4E6C05CAE168}"/>
    <pc:docChg chg="custSel modSld">
      <pc:chgData name="AADITYA PANWAR - 70562500163" userId="5886c166-ffbe-4381-b825-943856b23a8d" providerId="ADAL" clId="{08A75100-CC9C-455E-B032-4E6C05CAE168}" dt="2026-10-26T17:33:15.742" v="156" actId="20577"/>
      <pc:docMkLst>
        <pc:docMk/>
      </pc:docMkLst>
      <pc:sldChg chg="delSp modSp mod">
        <pc:chgData name="AADITYA PANWAR - 70562500163" userId="5886c166-ffbe-4381-b825-943856b23a8d" providerId="ADAL" clId="{08A75100-CC9C-455E-B032-4E6C05CAE168}" dt="2026-10-26T17:32:42.328" v="129" actId="21"/>
        <pc:sldMkLst>
          <pc:docMk/>
          <pc:sldMk cId="0" sldId="256"/>
        </pc:sldMkLst>
        <pc:spChg chg="del mod">
          <ac:chgData name="AADITYA PANWAR - 70562500163" userId="5886c166-ffbe-4381-b825-943856b23a8d" providerId="ADAL" clId="{08A75100-CC9C-455E-B032-4E6C05CAE168}" dt="2026-10-26T17:32:42.328" v="129" actId="21"/>
          <ac:spMkLst>
            <pc:docMk/>
            <pc:sldMk cId="0" sldId="256"/>
            <ac:spMk id="7" creationId="{00000000-0000-0000-0000-000000000000}"/>
          </ac:spMkLst>
        </pc:spChg>
        <pc:spChg chg="mod">
          <ac:chgData name="AADITYA PANWAR - 70562500163" userId="5886c166-ffbe-4381-b825-943856b23a8d" providerId="ADAL" clId="{08A75100-CC9C-455E-B032-4E6C05CAE168}" dt="2026-10-26T17:32:22.051" v="127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AADITYA PANWAR - 70562500163" userId="5886c166-ffbe-4381-b825-943856b23a8d" providerId="ADAL" clId="{08A75100-CC9C-455E-B032-4E6C05CAE168}" dt="2026-10-26T17:31:57.600" v="26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AADITYA PANWAR - 70562500163" userId="5886c166-ffbe-4381-b825-943856b23a8d" providerId="ADAL" clId="{08A75100-CC9C-455E-B032-4E6C05CAE168}" dt="2026-10-26T17:32:12.947" v="91" actId="20577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AADITYA PANWAR - 70562500163" userId="5886c166-ffbe-4381-b825-943856b23a8d" providerId="ADAL" clId="{08A75100-CC9C-455E-B032-4E6C05CAE168}" dt="2026-10-26T17:32:59.473" v="131" actId="1076"/>
        <pc:sldMkLst>
          <pc:docMk/>
          <pc:sldMk cId="0" sldId="260"/>
        </pc:sldMkLst>
        <pc:spChg chg="mod">
          <ac:chgData name="AADITYA PANWAR - 70562500163" userId="5886c166-ffbe-4381-b825-943856b23a8d" providerId="ADAL" clId="{08A75100-CC9C-455E-B032-4E6C05CAE168}" dt="2026-10-26T17:32:59.473" v="131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AADITYA PANWAR - 70562500163" userId="5886c166-ffbe-4381-b825-943856b23a8d" providerId="ADAL" clId="{08A75100-CC9C-455E-B032-4E6C05CAE168}" dt="2026-10-26T17:32:55.040" v="130" actId="1076"/>
          <ac:spMkLst>
            <pc:docMk/>
            <pc:sldMk cId="0" sldId="260"/>
            <ac:spMk id="10" creationId="{00000000-0000-0000-0000-000000000000}"/>
          </ac:spMkLst>
        </pc:spChg>
      </pc:sldChg>
      <pc:sldChg chg="modSp mod">
        <pc:chgData name="AADITYA PANWAR - 70562500163" userId="5886c166-ffbe-4381-b825-943856b23a8d" providerId="ADAL" clId="{08A75100-CC9C-455E-B032-4E6C05CAE168}" dt="2026-10-26T17:33:15.742" v="156" actId="20577"/>
        <pc:sldMkLst>
          <pc:docMk/>
          <pc:sldMk cId="0" sldId="267"/>
        </pc:sldMkLst>
        <pc:spChg chg="mod">
          <ac:chgData name="AADITYA PANWAR - 70562500163" userId="5886c166-ffbe-4381-b825-943856b23a8d" providerId="ADAL" clId="{08A75100-CC9C-455E-B032-4E6C05CAE168}" dt="2026-10-26T17:33:15.742" v="156" actId="20577"/>
          <ac:spMkLst>
            <pc:docMk/>
            <pc:sldMk cId="0" sldId="267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161383"/>
            <a:ext cx="106680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4161383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2029717"/>
            <a:ext cx="11430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8BDF8"/>
                </a:solidFill>
                <a:latin typeface="JetBrains Mono"/>
              </a:rPr>
              <a:t>PREFIX-TREE SEARCH &amp; AUTOCOMPLETE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410717"/>
            <a:ext cx="11430000" cy="569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8FAFC"/>
                </a:solidFill>
                <a:latin typeface="Space Grotesk"/>
              </a:rPr>
              <a:t>Real-Time Text Retrieval with Tries in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08883"/>
            <a:ext cx="7334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Algorithmic design, dynamic memory allocation, and recursive traversal for high-throughput search suggestion systems.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637633"/>
            <a:ext cx="74809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200" b="1" dirty="0">
                <a:solidFill>
                  <a:srgbClr val="E2E8F0"/>
                </a:solidFill>
                <a:latin typeface="Inter"/>
              </a:rPr>
              <a:t>DSA Project</a:t>
            </a:r>
            <a:endParaRPr sz="1200" b="1" i="0" u="none" dirty="0">
              <a:solidFill>
                <a:srgbClr val="E2E8F0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52750" y="4437608"/>
            <a:ext cx="702115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75" dirty="0">
                <a:solidFill>
                  <a:srgbClr val="64748B"/>
                </a:solidFill>
                <a:latin typeface="JetBrains Mono"/>
              </a:rPr>
              <a:t>Presented by:</a:t>
            </a:r>
            <a:endParaRPr sz="975" b="0" i="0" u="none" dirty="0">
              <a:solidFill>
                <a:srgbClr val="64748B"/>
              </a:solidFill>
              <a:latin typeface="JetBrains Mon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52750" y="4637633"/>
            <a:ext cx="220073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200" b="1" dirty="0">
                <a:solidFill>
                  <a:srgbClr val="E2E8F0"/>
                </a:solidFill>
                <a:latin typeface="Inter"/>
              </a:rPr>
              <a:t>Aaditya Panwar and Amrit Sharma</a:t>
            </a:r>
            <a:endParaRPr sz="1200" b="1" i="0" u="none" dirty="0">
              <a:solidFill>
                <a:srgbClr val="E2E8F0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880270"/>
            <a:ext cx="3454449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880270"/>
            <a:ext cx="3454449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2880270"/>
            <a:ext cx="3454449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94595"/>
            <a:ext cx="2978199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974" y="3194595"/>
            <a:ext cx="2978199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024" y="3194595"/>
            <a:ext cx="2978199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REAL-WORLD 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81050"/>
            <a:ext cx="115062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The Keystroke Query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651795"/>
            <a:ext cx="390888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Sub-10ms Keystrokes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975645"/>
            <a:ext cx="30734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Every keystroke demands instant completion before the next key press.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6974" y="3651795"/>
            <a:ext cx="390888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Large Dictionaries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6974" y="3975645"/>
            <a:ext cx="30734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Lexicons exceed 100,000 words in modern production systems.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0024" y="3651795"/>
            <a:ext cx="39019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Linear Scans Fail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024" y="3975645"/>
            <a:ext cx="30734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O(N × L) iteration causes input freezes and interface lag.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537370"/>
            <a:ext cx="5238750" cy="249555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537370"/>
            <a:ext cx="5238750" cy="249555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0125" y="4099470"/>
            <a:ext cx="4610100" cy="619125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1775" y="4099470"/>
            <a:ext cx="4610100" cy="619125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0125" y="4099470"/>
            <a:ext cx="28575" cy="61912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1775" y="4099470"/>
            <a:ext cx="28575" cy="6191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ALGORITHMIC JUSTIFICATION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81050"/>
            <a:ext cx="115062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Why Linear Arrays Fail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2842170"/>
            <a:ext cx="4724400" cy="1885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C2626"/>
                </a:solidFill>
                <a:latin typeface="Inter"/>
              </a:rPr>
              <a:t>Naive Array /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2250" y="2842170"/>
            <a:ext cx="4724400" cy="1885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A34A"/>
                </a:solidFill>
                <a:latin typeface="Inter"/>
              </a:rPr>
              <a:t>Our Solution: Trie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3156495"/>
            <a:ext cx="605075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Exhaustive Scanning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3518445"/>
            <a:ext cx="47053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Scans all N words on every single keystroke. Performance degrades linearly as dictionary grows.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1775" y="3156495"/>
            <a:ext cx="56102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Prefix Tree Descent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1775" y="3518445"/>
            <a:ext cx="47053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Follows character pointers directly. Lookup cost depends exclusively on prefix length 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1100" y="4213770"/>
            <a:ext cx="53459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91B1B"/>
                </a:solidFill>
                <a:latin typeface="JetBrains Mono"/>
              </a:rPr>
              <a:t>Time: O(N × 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1100" y="4451895"/>
            <a:ext cx="53459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F1D1D"/>
                </a:solidFill>
                <a:latin typeface="Inter"/>
              </a:rPr>
              <a:t>100k words × 5-char prefix = 500,000 comparisons.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2750" y="4213770"/>
            <a:ext cx="53459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66534"/>
                </a:solidFill>
                <a:latin typeface="JetBrains Mono"/>
              </a:rPr>
              <a:t>Time: O(L)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2750" y="4451895"/>
            <a:ext cx="53459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4532D"/>
                </a:solidFill>
                <a:latin typeface="Inter"/>
              </a:rPr>
              <a:t>Exactly 5 pointer dereferences regardless of dictionary scale.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0" y="2037308"/>
            <a:ext cx="7810500" cy="304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STRUCTURAL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1050"/>
            <a:ext cx="115062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The Trie: Shared Prefix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7337" y="5161508"/>
            <a:ext cx="14763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Root [Ø]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8206" y="5161508"/>
            <a:ext cx="226218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2563EB"/>
                </a:solidFill>
                <a:latin typeface="Inter"/>
              </a:rPr>
              <a:t>'c'-'a' Shared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58212" y="5161508"/>
            <a:ext cx="21431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59669"/>
                </a:solidFill>
                <a:latin typeface="Inter"/>
              </a:rPr>
              <a:t>isEndOfWord =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7337" y="5380583"/>
            <a:ext cx="14763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Empty string anchor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8206" y="5380583"/>
            <a:ext cx="226218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Reused by cat, car, cap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8212" y="5380583"/>
            <a:ext cx="2143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Terminal word markers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689770"/>
            <a:ext cx="5247977" cy="2190750"/>
          </a:xfrm>
          <a:prstGeom prst="roundRect">
            <a:avLst>
              <a:gd name="adj" fmla="val 5217"/>
            </a:avLst>
          </a:prstGeom>
          <a:solidFill>
            <a:srgbClr val="090D16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76677" y="2413545"/>
            <a:ext cx="5229522" cy="819150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76677" y="3385095"/>
            <a:ext cx="5229522" cy="80962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76677" y="4347120"/>
            <a:ext cx="5229522" cy="80962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DATA STRUCTURE IN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81050"/>
            <a:ext cx="115062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Memory Architecture &amp; Struct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138967"/>
            <a:ext cx="4809827" cy="1657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>
                <a:solidFill>
                  <a:srgbClr val="F43F5E"/>
                </a:solidFill>
                <a:latin typeface="Inter"/>
              </a:rPr>
              <a:t>#define</a:t>
            </a:r>
            <a:r>
              <a:rPr sz="1125" b="0" i="0" u="none" dirty="0">
                <a:solidFill>
                  <a:srgbClr val="E2E8F0"/>
                </a:solidFill>
                <a:latin typeface="Inter"/>
              </a:rPr>
              <a:t> ALPHABET_SIZE 26 </a:t>
            </a:r>
            <a:r>
              <a:rPr sz="1125" b="0" i="0" u="none" dirty="0">
                <a:solidFill>
                  <a:srgbClr val="38BDF8"/>
                </a:solidFill>
                <a:latin typeface="Inter"/>
              </a:rPr>
              <a:t>struct</a:t>
            </a:r>
            <a:r>
              <a:rPr sz="1125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E2E8F0"/>
                </a:solidFill>
                <a:latin typeface="Inter"/>
              </a:rPr>
              <a:t>TrieNode</a:t>
            </a:r>
            <a:r>
              <a:rPr sz="1125" b="0" i="0" u="none" dirty="0">
                <a:solidFill>
                  <a:srgbClr val="E2E8F0"/>
                </a:solidFill>
                <a:latin typeface="Inter"/>
              </a:rPr>
              <a:t> { </a:t>
            </a:r>
            <a:r>
              <a:rPr sz="1125" b="0" i="0" u="none" dirty="0">
                <a:solidFill>
                  <a:srgbClr val="38BDF8"/>
                </a:solidFill>
                <a:latin typeface="Inter"/>
              </a:rPr>
              <a:t>struct</a:t>
            </a:r>
            <a:r>
              <a:rPr sz="1125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E2E8F0"/>
                </a:solidFill>
                <a:latin typeface="Inter"/>
              </a:rPr>
              <a:t>TrieNode</a:t>
            </a:r>
            <a:r>
              <a:rPr sz="1125" b="0" i="0" u="none" dirty="0">
                <a:solidFill>
                  <a:srgbClr val="E2E8F0"/>
                </a:solidFill>
                <a:latin typeface="Inter"/>
              </a:rPr>
              <a:t> *children[ALPHABET_SIZE]; </a:t>
            </a:r>
            <a:r>
              <a:rPr sz="1125" b="0" i="0" u="none" dirty="0">
                <a:solidFill>
                  <a:srgbClr val="38BDF8"/>
                </a:solidFill>
                <a:latin typeface="Inter"/>
              </a:rPr>
              <a:t>bool</a:t>
            </a:r>
            <a:r>
              <a:rPr sz="1125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E2E8F0"/>
                </a:solidFill>
                <a:latin typeface="Inter"/>
              </a:rPr>
              <a:t>isEndOfWord</a:t>
            </a:r>
            <a:r>
              <a:rPr sz="1125" b="0" i="0" u="none" dirty="0">
                <a:solidFill>
                  <a:srgbClr val="E2E8F0"/>
                </a:solidFill>
                <a:latin typeface="Inter"/>
              </a:rPr>
              <a:t>; };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2965995"/>
            <a:ext cx="586940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"/>
              </a:rPr>
              <a:t>struct_trie_node.c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3504157"/>
            <a:ext cx="4790777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 dirty="0">
                <a:solidFill>
                  <a:srgbClr val="F43F5E"/>
                </a:solidFill>
                <a:latin typeface="JetBrains Mono"/>
              </a:rPr>
              <a:t>#define ALPHABET_SIZE 26 </a:t>
            </a:r>
            <a:r>
              <a:rPr sz="1125" b="0" i="0" u="none" dirty="0">
                <a:solidFill>
                  <a:srgbClr val="38BDF8"/>
                </a:solidFill>
                <a:latin typeface="JetBrains Mono"/>
              </a:rPr>
              <a:t>struct</a:t>
            </a:r>
            <a:r>
              <a:rPr sz="1125" b="0" i="0" u="none" dirty="0">
                <a:solidFill>
                  <a:srgbClr val="F43F5E"/>
                </a:solidFill>
                <a:latin typeface="JetBrains Mono"/>
              </a:rPr>
              <a:t> </a:t>
            </a:r>
            <a:r>
              <a:rPr sz="1125" b="0" i="0" u="none" dirty="0" err="1">
                <a:solidFill>
                  <a:srgbClr val="F43F5E"/>
                </a:solidFill>
                <a:latin typeface="JetBrains Mono"/>
              </a:rPr>
              <a:t>TrieNode</a:t>
            </a:r>
            <a:r>
              <a:rPr sz="1125" b="0" i="0" u="none" dirty="0">
                <a:solidFill>
                  <a:srgbClr val="F43F5E"/>
                </a:solidFill>
                <a:latin typeface="JetBrains Mono"/>
              </a:rPr>
              <a:t> { </a:t>
            </a:r>
            <a:r>
              <a:rPr sz="1125" b="0" i="0" u="none" dirty="0">
                <a:solidFill>
                  <a:srgbClr val="38BDF8"/>
                </a:solidFill>
                <a:latin typeface="JetBrains Mono"/>
              </a:rPr>
              <a:t>struct</a:t>
            </a:r>
            <a:r>
              <a:rPr sz="1125" b="0" i="0" u="none" dirty="0">
                <a:solidFill>
                  <a:srgbClr val="F43F5E"/>
                </a:solidFill>
                <a:latin typeface="JetBrains Mono"/>
              </a:rPr>
              <a:t> </a:t>
            </a:r>
            <a:r>
              <a:rPr sz="1125" b="0" i="0" u="none" dirty="0" err="1">
                <a:solidFill>
                  <a:srgbClr val="F43F5E"/>
                </a:solidFill>
                <a:latin typeface="JetBrains Mono"/>
              </a:rPr>
              <a:t>TrieNode</a:t>
            </a:r>
            <a:r>
              <a:rPr sz="1125" b="0" i="0" u="none" dirty="0">
                <a:solidFill>
                  <a:srgbClr val="F43F5E"/>
                </a:solidFill>
                <a:latin typeface="JetBrains Mono"/>
              </a:rPr>
              <a:t> *children[ALPHABET_SIZE]; </a:t>
            </a:r>
            <a:r>
              <a:rPr sz="1125" b="0" i="0" u="none" dirty="0">
                <a:solidFill>
                  <a:srgbClr val="38BDF8"/>
                </a:solidFill>
                <a:latin typeface="JetBrains Mono"/>
              </a:rPr>
              <a:t>bool</a:t>
            </a:r>
            <a:r>
              <a:rPr sz="1125" b="0" i="0" u="none" dirty="0">
                <a:solidFill>
                  <a:srgbClr val="F43F5E"/>
                </a:solidFill>
                <a:latin typeface="JetBrains Mono"/>
              </a:rPr>
              <a:t> </a:t>
            </a:r>
            <a:r>
              <a:rPr sz="1125" b="0" i="0" u="none" dirty="0" err="1">
                <a:solidFill>
                  <a:srgbClr val="F43F5E"/>
                </a:solidFill>
                <a:latin typeface="JetBrains Mono"/>
              </a:rPr>
              <a:t>isEndOfWord</a:t>
            </a:r>
            <a:r>
              <a:rPr sz="1125" b="0" i="0" u="none" dirty="0">
                <a:solidFill>
                  <a:srgbClr val="F43F5E"/>
                </a:solidFill>
                <a:latin typeface="JetBrains Mono"/>
              </a:rPr>
              <a:t>; };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6702" y="2613570"/>
            <a:ext cx="571529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Direct O(1) Indexing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6702" y="2861220"/>
            <a:ext cx="571529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Offset formula: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word[i] - 'a'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maps 'a'→0 through 'z'→25.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6702" y="3585120"/>
            <a:ext cx="571529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Boolean Word Flag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6702" y="3832770"/>
            <a:ext cx="571529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Differentiates complete valid words from incomplete prefix steps.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6702" y="4547145"/>
            <a:ext cx="571529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Inter"/>
              </a:rPr>
              <a:t>Dynamic Heap Footprint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702" y="4794795"/>
            <a:ext cx="571529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26 pointers × 8 bytes + 1 bool = ~216 bytes allocated dynamically per node.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3088927"/>
            <a:ext cx="2576512" cy="1392435"/>
          </a:xfrm>
          <a:prstGeom prst="roundRect">
            <a:avLst>
              <a:gd name="adj" fmla="val 82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33762" y="3088927"/>
            <a:ext cx="2576512" cy="1392435"/>
          </a:xfrm>
          <a:prstGeom prst="roundRect">
            <a:avLst>
              <a:gd name="adj" fmla="val 82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81725" y="3088927"/>
            <a:ext cx="2576512" cy="1392435"/>
          </a:xfrm>
          <a:prstGeom prst="roundRect">
            <a:avLst>
              <a:gd name="adj" fmla="val 82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29687" y="3088927"/>
            <a:ext cx="2576512" cy="1392435"/>
          </a:xfrm>
          <a:prstGeom prst="roundRect">
            <a:avLst>
              <a:gd name="adj" fmla="val 82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SYSTEM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81050"/>
            <a:ext cx="115062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Execution Pipeline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17527"/>
            <a:ext cx="2214562" cy="935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Inter"/>
              </a:rPr>
              <a:t>STAGE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2362" y="3317527"/>
            <a:ext cx="2214562" cy="935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Inter"/>
              </a:rPr>
              <a:t>STAGE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0325" y="3317527"/>
            <a:ext cx="2214562" cy="935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Inter"/>
              </a:rPr>
              <a:t>STAGE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58287" y="3317527"/>
            <a:ext cx="2214562" cy="935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Inter"/>
              </a:rPr>
              <a:t>STAGE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593752"/>
            <a:ext cx="275659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createNode()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869977"/>
            <a:ext cx="2195512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Heap allocation via malloc and NULL pointer initialization.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1887" y="3593752"/>
            <a:ext cx="275659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insert()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1887" y="3869977"/>
            <a:ext cx="2195512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Sequential path allocation and terminal node tagging.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850" y="3593752"/>
            <a:ext cx="275659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autocomplete()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850" y="3869977"/>
            <a:ext cx="2195512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Prefix validation and subtree anchor localization in O(L).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7812" y="3593752"/>
            <a:ext cx="275659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printSuggestions()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7812" y="3869977"/>
            <a:ext cx="2195512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Recursive DFS collecting and printing all matching words.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807047"/>
            <a:ext cx="5247977" cy="1956196"/>
          </a:xfrm>
          <a:prstGeom prst="roundRect">
            <a:avLst>
              <a:gd name="adj" fmla="val 58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76677" y="2668934"/>
            <a:ext cx="5229522" cy="1114425"/>
          </a:xfrm>
          <a:prstGeom prst="roundRect">
            <a:avLst>
              <a:gd name="adj" fmla="val 10256"/>
            </a:avLst>
          </a:prstGeom>
          <a:solidFill>
            <a:srgbClr val="090D16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76677" y="3935759"/>
            <a:ext cx="5229522" cy="965596"/>
          </a:xfrm>
          <a:prstGeom prst="roundRect">
            <a:avLst>
              <a:gd name="adj" fmla="val 11837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FUNCTION ALGORITHM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81050"/>
            <a:ext cx="115062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Algorithm: createNode()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083272"/>
            <a:ext cx="616287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Step-by-Step Procedure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75" y="3414742"/>
            <a:ext cx="95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416647"/>
            <a:ext cx="5631284" cy="19615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Allocate memory on heap: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malloc(sizeof(struct TrieNode))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3706147"/>
            <a:ext cx="1238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3708052"/>
            <a:ext cx="5631284" cy="196155"/>
          </a:xfrm>
          <a:prstGeom prst="rect">
            <a:avLst/>
          </a:prstGeom>
          <a:noFill/>
        </p:spPr>
        <p:txBody>
          <a:bodyPr wrap="none" lIns="123825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Set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newNode-&gt;isEndOfWord = false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3997553"/>
            <a:ext cx="1238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3999458"/>
            <a:ext cx="5631284" cy="196155"/>
          </a:xfrm>
          <a:prstGeom prst="rect">
            <a:avLst/>
          </a:prstGeom>
          <a:noFill/>
        </p:spPr>
        <p:txBody>
          <a:bodyPr wrap="none" lIns="123825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Loop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i = 0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to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25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: initialize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children[i] = NULL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4288958"/>
            <a:ext cx="1238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525" y="4290863"/>
            <a:ext cx="5631284" cy="196155"/>
          </a:xfrm>
          <a:prstGeom prst="rect">
            <a:avLst/>
          </a:prstGeom>
          <a:noFill/>
        </p:spPr>
        <p:txBody>
          <a:bodyPr wrap="none" lIns="123825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Return allocated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newNode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pointer.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4802" y="2907059"/>
            <a:ext cx="567719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"/>
              </a:rPr>
              <a:t>Complexity Bounds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4802" y="3135659"/>
            <a:ext cx="567719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ADE80"/>
                </a:solidFill>
                <a:latin typeface="JetBrains Mono"/>
              </a:rPr>
              <a:t>Time: O(1) • Space: O(1)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4802" y="3392834"/>
            <a:ext cx="567719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Fixed 26-iteration loop ensures deterministic constant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6702" y="4135784"/>
            <a:ext cx="571529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40AF"/>
                </a:solidFill>
                <a:latin typeface="Inter"/>
              </a:rPr>
              <a:t>Why NULL Initialization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6702" y="4354859"/>
            <a:ext cx="4924722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1E3A8A"/>
                </a:solidFill>
                <a:latin typeface="Inter"/>
              </a:rPr>
              <a:t>Guards against garbage addresses, preventing fatal segmentation faults during branch checks.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515641"/>
            <a:ext cx="5247977" cy="2539007"/>
          </a:xfrm>
          <a:prstGeom prst="roundRect">
            <a:avLst>
              <a:gd name="adj" fmla="val 45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76677" y="2668934"/>
            <a:ext cx="5229522" cy="1114425"/>
          </a:xfrm>
          <a:prstGeom prst="roundRect">
            <a:avLst>
              <a:gd name="adj" fmla="val 10256"/>
            </a:avLst>
          </a:prstGeom>
          <a:solidFill>
            <a:srgbClr val="090D16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76677" y="3935759"/>
            <a:ext cx="5229522" cy="965596"/>
          </a:xfrm>
          <a:prstGeom prst="roundRect">
            <a:avLst>
              <a:gd name="adj" fmla="val 1183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FUNCTION ALGORITHM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81050"/>
            <a:ext cx="115062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Algorithm: insert(root, word)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791866"/>
            <a:ext cx="616287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Step-by-Step Procedure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75" y="3123336"/>
            <a:ext cx="95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125241"/>
            <a:ext cx="5631284" cy="19615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Initialize traversal pointer: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curr = root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3414742"/>
            <a:ext cx="1238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3416647"/>
            <a:ext cx="5631284" cy="196155"/>
          </a:xfrm>
          <a:prstGeom prst="rect">
            <a:avLst/>
          </a:prstGeom>
          <a:noFill/>
        </p:spPr>
        <p:txBody>
          <a:bodyPr wrap="none" lIns="123825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Iterate character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word[i]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until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'\0'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3706147"/>
            <a:ext cx="1238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3708052"/>
            <a:ext cx="5631284" cy="196155"/>
          </a:xfrm>
          <a:prstGeom prst="rect">
            <a:avLst/>
          </a:prstGeom>
          <a:noFill/>
        </p:spPr>
        <p:txBody>
          <a:bodyPr wrap="none" lIns="123825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Compute index: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index = word[i] - 'a'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3997553"/>
            <a:ext cx="1238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525" y="3999458"/>
            <a:ext cx="5631284" cy="196155"/>
          </a:xfrm>
          <a:prstGeom prst="rect">
            <a:avLst/>
          </a:prstGeom>
          <a:noFill/>
        </p:spPr>
        <p:txBody>
          <a:bodyPr wrap="none" lIns="123825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If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curr-&gt;children[index] == NULL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, allocate via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createNode()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225" y="4288958"/>
            <a:ext cx="1143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525" y="4290863"/>
            <a:ext cx="5631284" cy="196155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Advance: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curr = curr-&gt;children[index]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" y="4580364"/>
            <a:ext cx="1238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525" y="4582269"/>
            <a:ext cx="5631284" cy="196155"/>
          </a:xfrm>
          <a:prstGeom prst="rect">
            <a:avLst/>
          </a:prstGeom>
          <a:noFill/>
        </p:spPr>
        <p:txBody>
          <a:bodyPr wrap="none" lIns="123825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Mark completion: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curr-&gt;isEndOfWord = true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4802" y="2907059"/>
            <a:ext cx="567719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"/>
              </a:rPr>
              <a:t>Complexity Bounds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4802" y="3135659"/>
            <a:ext cx="567719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ADE80"/>
                </a:solidFill>
                <a:latin typeface="JetBrains Mono"/>
              </a:rPr>
              <a:t>Time: O(L) • Space: O(L × 26)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4802" y="3392834"/>
            <a:ext cx="567719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L is word length. Existing prefixes are automatically reused without reallocation.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6702" y="4135784"/>
            <a:ext cx="571529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66534"/>
                </a:solidFill>
                <a:latin typeface="Inter"/>
              </a:rPr>
              <a:t>Prefix Sharing Property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6702" y="4354859"/>
            <a:ext cx="4924722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14532D"/>
                </a:solidFill>
                <a:latin typeface="Inter"/>
              </a:rPr>
              <a:t>Words like 'apple' and 'apply' share the first 4 nodes, saving significant heap memory.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568029"/>
            <a:ext cx="5247977" cy="2434232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76677" y="2668934"/>
            <a:ext cx="5229522" cy="1114425"/>
          </a:xfrm>
          <a:prstGeom prst="roundRect">
            <a:avLst>
              <a:gd name="adj" fmla="val 10256"/>
            </a:avLst>
          </a:prstGeom>
          <a:solidFill>
            <a:srgbClr val="090D16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76677" y="3935759"/>
            <a:ext cx="5229522" cy="965596"/>
          </a:xfrm>
          <a:prstGeom prst="roundRect">
            <a:avLst>
              <a:gd name="adj" fmla="val 11837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FUNCTION ALGORITHM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81050"/>
            <a:ext cx="115062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Algorithm: autocomplete(root, prefix)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844254"/>
            <a:ext cx="616287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Step-by-Step Procedure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75" y="3175724"/>
            <a:ext cx="95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177629"/>
            <a:ext cx="5631284" cy="19615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Set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curr = root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, init local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buffer[100]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and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length = 0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3467129"/>
            <a:ext cx="1238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3469034"/>
            <a:ext cx="5631284" cy="196155"/>
          </a:xfrm>
          <a:prstGeom prst="rect">
            <a:avLst/>
          </a:prstGeom>
          <a:noFill/>
        </p:spPr>
        <p:txBody>
          <a:bodyPr wrap="none" lIns="123825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Iterate characters in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prefix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3758535"/>
            <a:ext cx="1238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3760440"/>
            <a:ext cx="4600277" cy="382785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If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curr-&gt;children[index] == NULL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, prefix does not exist: print error and return immediately.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4236571"/>
            <a:ext cx="1238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525" y="4238476"/>
            <a:ext cx="5631284" cy="196155"/>
          </a:xfrm>
          <a:prstGeom prst="rect">
            <a:avLst/>
          </a:prstGeom>
          <a:noFill/>
        </p:spPr>
        <p:txBody>
          <a:bodyPr wrap="none" lIns="123825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Copy char into buffer, increment length, advance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curr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225" y="4527976"/>
            <a:ext cx="1143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525" y="4529881"/>
            <a:ext cx="5631284" cy="196155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Invoke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printSuggestions(curr, buffer, length)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4802" y="2907059"/>
            <a:ext cx="567719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"/>
              </a:rPr>
              <a:t>Complexity Bounds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4802" y="3135659"/>
            <a:ext cx="567719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ADE80"/>
                </a:solidFill>
                <a:latin typeface="JetBrains Mono"/>
              </a:rPr>
              <a:t>Time: O(L) • Space: O(1)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4802" y="3392834"/>
            <a:ext cx="567719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Traversal depends exclusively on prefix length L, not total dictionary size 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6702" y="4135784"/>
            <a:ext cx="571529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991B1B"/>
                </a:solidFill>
                <a:latin typeface="Inter"/>
              </a:rPr>
              <a:t>Early Exit Optimization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6702" y="4354859"/>
            <a:ext cx="4924722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7F1D1D"/>
                </a:solidFill>
                <a:latin typeface="Inter"/>
              </a:rPr>
              <a:t>Non-existent prefixes terminate in under L steps, saving unnecessary computation.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605236"/>
            <a:ext cx="5247977" cy="2359818"/>
          </a:xfrm>
          <a:prstGeom prst="roundRect">
            <a:avLst>
              <a:gd name="adj" fmla="val 4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76677" y="2668934"/>
            <a:ext cx="5229522" cy="1114425"/>
          </a:xfrm>
          <a:prstGeom prst="roundRect">
            <a:avLst>
              <a:gd name="adj" fmla="val 10256"/>
            </a:avLst>
          </a:prstGeom>
          <a:solidFill>
            <a:srgbClr val="090D16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76677" y="3935759"/>
            <a:ext cx="5229522" cy="965596"/>
          </a:xfrm>
          <a:prstGeom prst="roundRect">
            <a:avLst>
              <a:gd name="adj" fmla="val 1183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FUNCTION ALGORITHM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81050"/>
            <a:ext cx="115062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Algorithm: printSuggestions() (DFS)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881461"/>
            <a:ext cx="616287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Step-by-Step Procedure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75" y="3212931"/>
            <a:ext cx="95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214836"/>
            <a:ext cx="5631284" cy="19615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Base guard: return if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curr == NULL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3504336"/>
            <a:ext cx="1238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3506241"/>
            <a:ext cx="5631284" cy="196155"/>
          </a:xfrm>
          <a:prstGeom prst="rect">
            <a:avLst/>
          </a:prstGeom>
          <a:noFill/>
        </p:spPr>
        <p:txBody>
          <a:bodyPr wrap="none" lIns="123825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If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curr-&gt;isEndOfWord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: append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'\0'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and print buffer.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3795742"/>
            <a:ext cx="1238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3797647"/>
            <a:ext cx="5631284" cy="196155"/>
          </a:xfrm>
          <a:prstGeom prst="rect">
            <a:avLst/>
          </a:prstGeom>
          <a:noFill/>
        </p:spPr>
        <p:txBody>
          <a:bodyPr wrap="none" lIns="123825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Loop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i = 0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to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25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for all children.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4096672"/>
            <a:ext cx="1238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525" y="4098577"/>
            <a:ext cx="5631284" cy="161925"/>
          </a:xfrm>
          <a:prstGeom prst="rect">
            <a:avLst/>
          </a:prstGeom>
          <a:noFill/>
        </p:spPr>
        <p:txBody>
          <a:bodyPr wrap="none" lIns="123825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If </a:t>
            </a:r>
            <a:r>
              <a:rPr sz="1050" b="0" i="0" u="none">
                <a:solidFill>
                  <a:srgbClr val="2563EB"/>
                </a:solidFill>
                <a:latin typeface="Inter"/>
              </a:rPr>
              <a:t>children[i] != NULL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4802" y="2907059"/>
            <a:ext cx="567719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JetBrains Mono"/>
              </a:rPr>
              <a:t>Complexity Bounds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4802" y="3135659"/>
            <a:ext cx="567719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ADE80"/>
                </a:solidFill>
                <a:latin typeface="JetBrains Mono"/>
              </a:rPr>
              <a:t>Time: O(M) • Space: O(H)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4802" y="3392834"/>
            <a:ext cx="567719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Inter"/>
              </a:rPr>
              <a:t>M is subtree nodes visited; H is maximum word length on call stack.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6702" y="4135784"/>
            <a:ext cx="571529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66534"/>
                </a:solidFill>
                <a:latin typeface="Inter"/>
              </a:rPr>
              <a:t>Natural Alphabetical 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6702" y="4354859"/>
            <a:ext cx="4924722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14532D"/>
                </a:solidFill>
                <a:latin typeface="Inter"/>
              </a:rPr>
              <a:t>Iterating 0 to 25 prints suggestions in lexicographical order without external sorting.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8725" y="4324260"/>
            <a:ext cx="7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4925" y="4323308"/>
            <a:ext cx="5440784" cy="18276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Set </a:t>
            </a:r>
            <a:r>
              <a:rPr sz="975" b="0" i="0" u="none">
                <a:solidFill>
                  <a:srgbClr val="2563EB"/>
                </a:solidFill>
                <a:latin typeface="Inter"/>
              </a:rPr>
              <a:t>buffer[length] = 'a' + i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8725" y="4507021"/>
            <a:ext cx="7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4925" y="4506069"/>
            <a:ext cx="5440784" cy="18276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Recurse: </a:t>
            </a:r>
            <a:r>
              <a:rPr sz="975" b="0" i="0" u="none">
                <a:solidFill>
                  <a:srgbClr val="2563EB"/>
                </a:solidFill>
                <a:latin typeface="Inter"/>
              </a:rPr>
              <a:t>printSuggestions(child, buffer, length + 1)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661195"/>
            <a:ext cx="10820400" cy="22479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2661195"/>
          <a:ext cx="10810873" cy="2247900"/>
        </p:xfrm>
        <a:graphic>
          <a:graphicData uri="http://schemas.openxmlformats.org/drawingml/2006/table">
            <a:tbl>
              <a:tblPr/>
              <a:tblGrid>
                <a:gridCol w="2236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3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3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Function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Time Bound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Space Bound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Engineering Rationale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createNode()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2563EB"/>
                          </a:solidFill>
                          <a:latin typeface="JetBrains Mono"/>
                        </a:rPr>
                        <a:t>O(1)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Allocates fixed 26 pointers + 1 bool.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insert()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2563EB"/>
                          </a:solidFill>
                          <a:latin typeface="JetBrains Mono"/>
                        </a:rPr>
                        <a:t>O(L)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O(L × Σ)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L characters processed; reuses existing branches.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autocomplete()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JetBrains Mono"/>
                        </a:rPr>
                        <a:t>O(L)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Descends exactly L pointers to find subtree.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printSuggestions()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2563EB"/>
                          </a:solidFill>
                          <a:latin typeface="JetBrains Mono"/>
                        </a:rPr>
                        <a:t>O(M)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O(H)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M subtree nodes; stack bound to max word length H.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THEORETICAL BOUNDS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1050"/>
            <a:ext cx="115062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Space Grotesk"/>
              </a:rPr>
              <a:t>Computational Complexity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295900" y="4358580"/>
            <a:ext cx="1600200" cy="323850"/>
          </a:xfrm>
          <a:prstGeom prst="roundRect">
            <a:avLst>
              <a:gd name="adj" fmla="val 2352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652925" y="2175569"/>
            <a:ext cx="288614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8BDF8"/>
                </a:solidFill>
                <a:latin typeface="JetBrains Mono"/>
              </a:rPr>
              <a:t>CONCLUSION &amp;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6685" y="2499419"/>
            <a:ext cx="9038629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Space Grotesk"/>
              </a:rPr>
              <a:t>Deterministic Search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192809"/>
            <a:ext cx="80962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The Trie decouples retrieval latency from dictionary volume, delivering predictable O(L) lookups for interactive applications. Future extensions include compressed Radix Trees and Top-K Min-Heaps.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86375" y="4434780"/>
            <a:ext cx="161925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050" dirty="0">
                <a:solidFill>
                  <a:srgbClr val="93C5FD"/>
                </a:solidFill>
                <a:latin typeface="JetBrains Mono"/>
              </a:rPr>
              <a:t>Thank You</a:t>
            </a:r>
            <a:endParaRPr sz="1050" b="0" i="0" u="none" dirty="0">
              <a:solidFill>
                <a:srgbClr val="93C5FD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1000</Words>
  <Application>Microsoft Office PowerPoint</Application>
  <PresentationFormat>Widescreen</PresentationFormat>
  <Paragraphs>159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JetBrains Mono</vt:lpstr>
      <vt:lpstr>Arial</vt:lpstr>
      <vt:lpstr>Space Grotesk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AADITYA PANWAR - 70562500163</cp:lastModifiedBy>
  <cp:revision>1</cp:revision>
  <dcterms:created xsi:type="dcterms:W3CDTF">2013-01-27T09:14:16Z</dcterms:created>
  <dcterms:modified xsi:type="dcterms:W3CDTF">2026-10-26T17:33:21Z</dcterms:modified>
  <cp:category/>
</cp:coreProperties>
</file>